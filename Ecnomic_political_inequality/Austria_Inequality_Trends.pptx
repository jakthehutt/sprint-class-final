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Share of Total Inherited Wealth</c:v>
                </c:pt>
              </c:strCache>
            </c:strRef>
          </c:tx>
          <c:dPt>
            <c:idx val="0"/>
            <c:spPr>
              <a:solidFill>
                <a:srgbClr val="DB2777"/>
              </a:solidFill>
            </c:spPr>
          </c:dPt>
          <c:dPt>
            <c:idx val="1"/>
            <c:spPr>
              <a:solidFill>
                <a:srgbClr val="3B82F6"/>
              </a:solidFill>
            </c:spPr>
          </c:dPt>
          <c:dPt>
            <c:idx val="2"/>
            <c:spPr>
              <a:solidFill>
                <a:srgbClr val="10B981"/>
              </a:solidFill>
            </c:spPr>
          </c:dPt>
          <c:cat>
            <c:strRef>
              <c:f>Sheet1!$A$2:$A$4</c:f>
              <c:strCache>
                <c:ptCount val="3"/>
                <c:pt idx="0">
                  <c:v>Top 10% Inheritors</c:v>
                </c:pt>
                <c:pt idx="1">
                  <c:v>Remaining Native Pop.</c:v>
                </c:pt>
                <c:pt idx="2">
                  <c:v>Migrant Background Pop.</c:v>
                </c:pt>
              </c:strCache>
            </c:strRef>
          </c:cat>
          <c:val>
            <c:numRef>
              <c:f>Sheet1!$B$2:$B$4</c:f>
              <c:numCache>
                <c:formatCode>General</c:formatCode>
                <c:ptCount val="3"/>
                <c:pt idx="0">
                  <c:v>65</c:v>
                </c:pt>
                <c:pt idx="1">
                  <c:v>30</c:v>
                </c:pt>
                <c:pt idx="2">
                  <c:v>5</c:v>
                </c:pt>
              </c:numCache>
            </c:numRef>
          </c:val>
        </c:ser>
        <c:dLbls>
          <c:showLegendKey val="0"/>
          <c:showVal val="0"/>
          <c:showCatName val="0"/>
          <c:showSerName val="0"/>
          <c:showPercent val="0"/>
          <c:showBubbleSize val="0"/>
          <c:showLeaderLines val="1"/>
        </c:dLbls>
        <c:firstSliceAng val="0"/>
        <c:holeSize val="50"/>
      </c:doughnutChart>
    </c:plotArea>
    <c:legend>
      <c:legendPos val="b"/>
      <c:layout/>
      <c:overlay val="0"/>
    </c:legend>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Gini Coefficient</c:v>
                </c:pt>
              </c:strCache>
            </c:strRef>
          </c:tx>
          <c:dPt>
            <c:idx val="0"/>
            <c:spPr>
              <a:solidFill>
                <a:srgbClr val="10B981"/>
              </a:solidFill>
            </c:spPr>
          </c:dPt>
          <c:dPt>
            <c:idx val="1"/>
            <c:spPr>
              <a:solidFill>
                <a:srgbClr val="DB2777"/>
              </a:solidFill>
            </c:spPr>
          </c:dPt>
          <c:cat>
            <c:strRef>
              <c:f>Sheet1!$A$2:$A$3</c:f>
              <c:strCache>
                <c:ptCount val="2"/>
                <c:pt idx="0">
                  <c:v>Income Gini (After Taxes)</c:v>
                </c:pt>
                <c:pt idx="1">
                  <c:v>Wealth Gini (Gross Assets)</c:v>
                </c:pt>
              </c:strCache>
            </c:strRef>
          </c:cat>
          <c:val>
            <c:numRef>
              <c:f>Sheet1!$B$2:$B$3</c:f>
              <c:numCache>
                <c:formatCode>General</c:formatCode>
                <c:ptCount val="2"/>
                <c:pt idx="0">
                  <c:v>0.28</c:v>
                </c:pt>
                <c:pt idx="1">
                  <c:v>0.76</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title>
          <c:tx>
            <c:rich>
              <a:bodyPr/>
              <a:lstStyle/>
              <a:p>
                <a:pPr>
                  <a:defRPr sz="1000"/>
                </a:pPr>
                <a:r>
                  <a:t>Gini Indicator</a:t>
                </a:r>
              </a:p>
            </c:rich>
          </c:tx>
          <c:layout/>
          <c:overlay val="0"/>
        </c:title>
        <c:majorTickMark val="out"/>
        <c:minorTickMark val="none"/>
        <c:tickLblPos val="nextTo"/>
        <c:crossAx val="-2113994440"/>
        <c:crosses val="autoZero"/>
        <c:auto val="1"/>
        <c:lblAlgn val="ctr"/>
        <c:lblOffset val="100"/>
        <c:noMultiLvlLbl val="0"/>
      </c:catAx>
      <c:valAx>
        <c:axId val="-2113994440"/>
        <c:scaling/>
        <c:delete val="0"/>
        <c:axPos val="b"/>
        <c:majorGridlines/>
        <c:title>
          <c:tx>
            <c:rich>
              <a:bodyPr/>
              <a:lstStyle/>
              <a:p>
                <a:pPr>
                  <a:defRPr sz="1000"/>
                </a:pPr>
                <a:r>
                  <a:t>Coefficient (0-1)</a:t>
                </a:r>
              </a:p>
            </c:rich>
          </c:tx>
          <c:layout/>
          <c:overlay val="0"/>
        </c:title>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Avg Gross Hourly Wage (€)</c:v>
                </c:pt>
              </c:strCache>
            </c:strRef>
          </c:tx>
          <c:dPt>
            <c:idx val="0"/>
            <c:spPr>
              <a:solidFill>
                <a:srgbClr val="3B82F6"/>
              </a:solidFill>
            </c:spPr>
          </c:dPt>
          <c:dPt>
            <c:idx val="1"/>
            <c:spPr>
              <a:solidFill>
                <a:srgbClr val="8B5CF6"/>
              </a:solidFill>
            </c:spPr>
          </c:dPt>
          <c:dPt>
            <c:idx val="2"/>
            <c:spPr>
              <a:solidFill>
                <a:srgbClr val="F59E0B"/>
              </a:solidFill>
            </c:spPr>
          </c:dPt>
          <c:cat>
            <c:strRef>
              <c:f>Sheet1!$A$2:$A$4</c:f>
              <c:strCache>
                <c:ptCount val="3"/>
                <c:pt idx="0">
                  <c:v>Men Full-Time</c:v>
                </c:pt>
                <c:pt idx="1">
                  <c:v>Women Full-Time</c:v>
                </c:pt>
                <c:pt idx="2">
                  <c:v>Women Part-Time</c:v>
                </c:pt>
              </c:strCache>
            </c:strRef>
          </c:cat>
          <c:val>
            <c:numRef>
              <c:f>Sheet1!$B$2:$B$4</c:f>
              <c:numCache>
                <c:formatCode>General</c:formatCode>
                <c:ptCount val="3"/>
                <c:pt idx="0">
                  <c:v>22.5</c:v>
                </c:pt>
                <c:pt idx="1">
                  <c:v>18.5</c:v>
                </c:pt>
                <c:pt idx="2">
                  <c:v>14.2</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title>
          <c:tx>
            <c:rich>
              <a:bodyPr/>
              <a:lstStyle/>
              <a:p>
                <a:pPr>
                  <a:defRPr sz="1000"/>
                </a:pPr>
                <a:r>
                  <a:t>Employment Group</a:t>
                </a:r>
              </a:p>
            </c:rich>
          </c:tx>
          <c:layout/>
          <c:overlay val="0"/>
        </c:title>
        <c:majorTickMark val="out"/>
        <c:minorTickMark val="none"/>
        <c:tickLblPos val="nextTo"/>
        <c:crossAx val="-2113994440"/>
        <c:crosses val="autoZero"/>
        <c:auto val="1"/>
        <c:lblAlgn val="ctr"/>
        <c:lblOffset val="100"/>
        <c:noMultiLvlLbl val="0"/>
      </c:catAx>
      <c:valAx>
        <c:axId val="-2113994440"/>
        <c:scaling/>
        <c:delete val="0"/>
        <c:axPos val="l"/>
        <c:majorGridlines/>
        <c:title>
          <c:tx>
            <c:rich>
              <a:bodyPr/>
              <a:lstStyle/>
              <a:p>
                <a:pPr>
                  <a:defRPr sz="1000"/>
                </a:pPr>
                <a:r>
                  <a:t>Hourly Wage (€)</a:t>
                </a:r>
              </a:p>
            </c:rich>
          </c:tx>
          <c:layout/>
          <c:overlay val="0"/>
        </c:title>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Prob. Achieved Tertiary Degree (%)</c:v>
                </c:pt>
              </c:strCache>
            </c:strRef>
          </c:tx>
          <c:spPr>
            <a:solidFill>
              <a:srgbClr val="8B5CF6"/>
            </a:solidFill>
          </c:spPr>
          <c:cat>
            <c:strRef>
              <c:f>Sheet1!$A$2:$A$4</c:f>
              <c:strCache>
                <c:ptCount val="3"/>
                <c:pt idx="0">
                  <c:v>Parents: Mandatory</c:v>
                </c:pt>
                <c:pt idx="1">
                  <c:v>Parents: Apprenticeship</c:v>
                </c:pt>
                <c:pt idx="2">
                  <c:v>Parents: Uni Degree</c:v>
                </c:pt>
              </c:strCache>
            </c:strRef>
          </c:cat>
          <c:val>
            <c:numRef>
              <c:f>Sheet1!$B$2:$B$4</c:f>
              <c:numCache>
                <c:formatCode>General</c:formatCode>
                <c:ptCount val="3"/>
                <c:pt idx="0">
                  <c:v>15</c:v>
                </c:pt>
                <c:pt idx="1">
                  <c:v>28</c:v>
                </c:pt>
                <c:pt idx="2">
                  <c:v>62</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title>
          <c:tx>
            <c:rich>
              <a:bodyPr/>
              <a:lstStyle/>
              <a:p>
                <a:pPr>
                  <a:defRPr sz="1000"/>
                </a:pPr>
                <a:r>
                  <a:t>Parental Education</a:t>
                </a:r>
              </a:p>
            </c:rich>
          </c:tx>
          <c:layout/>
          <c:overlay val="0"/>
        </c:title>
        <c:majorTickMark val="out"/>
        <c:minorTickMark val="none"/>
        <c:tickLblPos val="nextTo"/>
        <c:crossAx val="-2113994440"/>
        <c:crosses val="autoZero"/>
        <c:auto val="1"/>
        <c:lblAlgn val="ctr"/>
        <c:lblOffset val="100"/>
        <c:noMultiLvlLbl val="0"/>
      </c:catAx>
      <c:valAx>
        <c:axId val="-2113994440"/>
        <c:scaling/>
        <c:delete val="0"/>
        <c:axPos val="l"/>
        <c:majorGridlines/>
        <c:title>
          <c:tx>
            <c:rich>
              <a:bodyPr/>
              <a:lstStyle/>
              <a:p>
                <a:pPr>
                  <a:defRPr sz="1000"/>
                </a:pPr>
                <a:r>
                  <a:t>Child Probability (%)</a:t>
                </a:r>
              </a:p>
            </c:rich>
          </c:tx>
          <c:layout/>
          <c:overlay val="0"/>
        </c:title>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Regions</c:v>
                </c:pt>
              </c:strCache>
            </c:strRef>
          </c:tx>
          <c:spPr>
            <a:ln w="47625">
              <a:noFill/>
            </a:ln>
          </c:spPr>
          <c:dPt>
            <c:idx val="0"/>
            <c:marker>
              <c:size val="15"/>
            </c:marker>
          </c:dPt>
          <c:dPt>
            <c:idx val="1"/>
            <c:marker>
              <c:size val="15"/>
            </c:marker>
          </c:dPt>
          <c:dPt>
            <c:idx val="2"/>
            <c:marker>
              <c:size val="15"/>
            </c:marker>
          </c:dPt>
          <c:dPt>
            <c:idx val="3"/>
            <c:marker>
              <c:size val="15"/>
            </c:marker>
          </c:dPt>
          <c:xVal>
            <c:numRef>
              <c:f>Sheet1!$A$2:$A$5</c:f>
              <c:numCache>
                <c:formatCode>General</c:formatCode>
                <c:ptCount val="4"/>
                <c:pt idx="0">
                  <c:v>38000</c:v>
                </c:pt>
                <c:pt idx="1">
                  <c:v>36500</c:v>
                </c:pt>
                <c:pt idx="2">
                  <c:v>35000</c:v>
                </c:pt>
                <c:pt idx="3">
                  <c:v>31000</c:v>
                </c:pt>
              </c:numCache>
            </c:numRef>
          </c:xVal>
          <c:yVal>
            <c:numRef>
              <c:f>Sheet1!$B$2:$B$5</c:f>
              <c:numCache>
                <c:formatCode>General</c:formatCode>
                <c:ptCount val="4"/>
                <c:pt idx="0">
                  <c:v>15.5</c:v>
                </c:pt>
                <c:pt idx="1">
                  <c:v>14.8</c:v>
                </c:pt>
                <c:pt idx="2">
                  <c:v>11.2</c:v>
                </c:pt>
                <c:pt idx="3">
                  <c:v>10.5</c:v>
                </c:pt>
              </c:numCache>
            </c:numRef>
          </c:yVal>
          <c:smooth val="0"/>
        </c:ser>
        <c:axId val="-2128940872"/>
        <c:axId val="-2129643912"/>
      </c:scatterChart>
      <c:valAx>
        <c:axId val="-2128940872"/>
        <c:scaling>
          <c:orientation val="minMax"/>
        </c:scaling>
        <c:delete val="0"/>
        <c:axPos val="b"/>
        <c:title>
          <c:tx>
            <c:rich>
              <a:bodyPr/>
              <a:lstStyle/>
              <a:p>
                <a:pPr>
                  <a:defRPr sz="1000"/>
                </a:pPr>
                <a:r>
                  <a:t>Median Annual Net Income (€)</a:t>
                </a:r>
              </a:p>
            </c:rich>
          </c:tx>
          <c:layout/>
          <c:overlay val="0"/>
        </c:title>
        <c:numFmt formatCode="General" sourceLinked="1"/>
        <c:majorTickMark val="out"/>
        <c:minorTickMark val="none"/>
        <c:tickLblPos val="nextTo"/>
        <c:crossAx val="-2129643912"/>
        <c:crosses val="autoZero"/>
        <c:crossBetween val="midCat"/>
      </c:valAx>
      <c:valAx>
        <c:axId val="-2129643912"/>
        <c:scaling>
          <c:orientation val="minMax"/>
        </c:scaling>
        <c:delete val="0"/>
        <c:axPos val="l"/>
        <c:majorGridlines/>
        <c:title>
          <c:tx>
            <c:rich>
              <a:bodyPr/>
              <a:lstStyle/>
              <a:p>
                <a:pPr>
                  <a:defRPr sz="1000"/>
                </a:pPr>
                <a:r>
                  <a:t>Avg Rent Cost per sqm (€)</a:t>
                </a:r>
              </a:p>
            </c:rich>
          </c:tx>
          <c:layout/>
          <c:overlay val="0"/>
        </c:title>
        <c:numFmt formatCode="General" sourceLinked="1"/>
        <c:majorTickMark val="out"/>
        <c:minorTickMark val="none"/>
        <c:tickLblPos val="nextTo"/>
        <c:crossAx val="-2128940872"/>
        <c:crosses val="autoZero"/>
        <c:crossBetween val="midCat"/>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Bottom 20% Income</c:v>
                </c:pt>
              </c:strCache>
            </c:strRef>
          </c:tx>
          <c:spPr>
            <a:ln>
              <a:solidFill>
                <a:srgbClr val="EF4444"/>
              </a:solidFill>
            </a:ln>
          </c:spPr>
          <c:marker>
            <c:symbol val="none"/>
          </c:marker>
          <c:cat>
            <c:strRef>
              <c:f>Sheet1!$A$2:$A$6</c:f>
              <c:strCache>
                <c:ptCount val="5"/>
                <c:pt idx="0">
                  <c:v>21 Q4</c:v>
                </c:pt>
                <c:pt idx="1">
                  <c:v>22 Q2</c:v>
                </c:pt>
                <c:pt idx="2">
                  <c:v>22 Q4</c:v>
                </c:pt>
                <c:pt idx="3">
                  <c:v>23 Q2</c:v>
                </c:pt>
                <c:pt idx="4">
                  <c:v>23 Q4</c:v>
                </c:pt>
              </c:strCache>
            </c:strRef>
          </c:cat>
          <c:val>
            <c:numRef>
              <c:f>Sheet1!$B$2:$B$6</c:f>
              <c:numCache>
                <c:formatCode>General</c:formatCode>
                <c:ptCount val="5"/>
                <c:pt idx="0">
                  <c:v>4.5</c:v>
                </c:pt>
                <c:pt idx="1">
                  <c:v>9.2</c:v>
                </c:pt>
                <c:pt idx="2">
                  <c:v>11.8</c:v>
                </c:pt>
                <c:pt idx="3">
                  <c:v>10.5</c:v>
                </c:pt>
                <c:pt idx="4">
                  <c:v>6.8</c:v>
                </c:pt>
              </c:numCache>
            </c:numRef>
          </c:val>
          <c:smooth val="0"/>
        </c:ser>
        <c:ser>
          <c:idx val="1"/>
          <c:order val="1"/>
          <c:tx>
            <c:strRef>
              <c:f>Sheet1!$C$1</c:f>
              <c:strCache>
                <c:ptCount val="1"/>
                <c:pt idx="0">
                  <c:v>Top 20% Income</c:v>
                </c:pt>
              </c:strCache>
            </c:strRef>
          </c:tx>
          <c:spPr>
            <a:ln>
              <a:solidFill>
                <a:srgbClr val="3B82F6"/>
              </a:solidFill>
            </a:ln>
          </c:spPr>
          <c:marker>
            <c:symbol val="none"/>
          </c:marker>
          <c:cat>
            <c:strRef>
              <c:f>Sheet1!$A$2:$A$6</c:f>
              <c:strCache>
                <c:ptCount val="5"/>
                <c:pt idx="0">
                  <c:v>21 Q4</c:v>
                </c:pt>
                <c:pt idx="1">
                  <c:v>22 Q2</c:v>
                </c:pt>
                <c:pt idx="2">
                  <c:v>22 Q4</c:v>
                </c:pt>
                <c:pt idx="3">
                  <c:v>23 Q2</c:v>
                </c:pt>
                <c:pt idx="4">
                  <c:v>23 Q4</c:v>
                </c:pt>
              </c:strCache>
            </c:strRef>
          </c:cat>
          <c:val>
            <c:numRef>
              <c:f>Sheet1!$C$2:$C$6</c:f>
              <c:numCache>
                <c:formatCode>General</c:formatCode>
                <c:ptCount val="5"/>
                <c:pt idx="0">
                  <c:v>4.0</c:v>
                </c:pt>
                <c:pt idx="1">
                  <c:v>7.5</c:v>
                </c:pt>
                <c:pt idx="2">
                  <c:v>9.1</c:v>
                </c:pt>
                <c:pt idx="3">
                  <c:v>8.2</c:v>
                </c:pt>
                <c:pt idx="4">
                  <c:v>5.5</c:v>
                </c:pt>
              </c:numCache>
            </c:numRef>
          </c:val>
          <c:smooth val="0"/>
        </c:ser>
        <c:marker val="1"/>
        <c:smooth val="0"/>
        <c:axId val="2118791784"/>
        <c:axId val="2140495176"/>
      </c:lineChart>
      <c:catAx>
        <c:axId val="2118791784"/>
        <c:scaling>
          <c:orientation val="minMax"/>
        </c:scaling>
        <c:delete val="0"/>
        <c:axPos val="b"/>
        <c:title>
          <c:tx>
            <c:rich>
              <a:bodyPr/>
              <a:lstStyle/>
              <a:p>
                <a:pPr>
                  <a:defRPr sz="1000"/>
                </a:pPr>
                <a:r>
                  <a:t>Quarter</a:t>
                </a:r>
              </a:p>
            </c:rich>
          </c:tx>
          <c:layout/>
          <c:overlay val="0"/>
        </c:title>
        <c:majorTickMark val="out"/>
        <c:minorTickMark val="none"/>
        <c:tickLblPos val="nextTo"/>
        <c:crossAx val="2140495176"/>
        <c:crosses val="autoZero"/>
        <c:auto val="1"/>
        <c:lblAlgn val="ctr"/>
        <c:lblOffset val="100"/>
        <c:noMultiLvlLbl val="0"/>
      </c:catAx>
      <c:valAx>
        <c:axId val="2140495176"/>
        <c:scaling/>
        <c:delete val="0"/>
        <c:axPos val="l"/>
        <c:majorGridlines/>
        <c:title>
          <c:tx>
            <c:rich>
              <a:bodyPr/>
              <a:lstStyle/>
              <a:p>
                <a:pPr>
                  <a:defRPr sz="1000"/>
                </a:pPr>
                <a:r>
                  <a:t>Effective Inflation Rate (%)</a:t>
                </a:r>
              </a:p>
            </c:rich>
          </c:tx>
          <c:layout/>
          <c:overlay val="0"/>
        </c:title>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Share of Gen. Workforce</c:v>
                </c:pt>
              </c:strCache>
            </c:strRef>
          </c:tx>
          <c:spPr>
            <a:solidFill>
              <a:srgbClr val="F59E0B"/>
            </a:solidFill>
          </c:spPr>
          <c:cat>
            <c:strRef>
              <c:f>Sheet1!$A$2:$A$3</c:f>
              <c:strCache>
                <c:ptCount val="2"/>
                <c:pt idx="0">
                  <c:v>Working Class</c:v>
                </c:pt>
                <c:pt idx="1">
                  <c:v>Academics / Professionals</c:v>
                </c:pt>
              </c:strCache>
            </c:strRef>
          </c:cat>
          <c:val>
            <c:numRef>
              <c:f>Sheet1!$B$2:$B$3</c:f>
              <c:numCache>
                <c:formatCode>General</c:formatCode>
                <c:ptCount val="2"/>
                <c:pt idx="0">
                  <c:v>35</c:v>
                </c:pt>
                <c:pt idx="1">
                  <c:v>20</c:v>
                </c:pt>
              </c:numCache>
            </c:numRef>
          </c:val>
        </c:ser>
        <c:ser>
          <c:idx val="1"/>
          <c:order val="1"/>
          <c:tx>
            <c:strRef>
              <c:f>Sheet1!$C$1</c:f>
              <c:strCache>
                <c:ptCount val="1"/>
                <c:pt idx="0">
                  <c:v>Share of Parliament</c:v>
                </c:pt>
              </c:strCache>
            </c:strRef>
          </c:tx>
          <c:spPr>
            <a:solidFill>
              <a:srgbClr val="8B5CF6"/>
            </a:solidFill>
          </c:spPr>
          <c:cat>
            <c:strRef>
              <c:f>Sheet1!$A$2:$A$3</c:f>
              <c:strCache>
                <c:ptCount val="2"/>
                <c:pt idx="0">
                  <c:v>Working Class</c:v>
                </c:pt>
                <c:pt idx="1">
                  <c:v>Academics / Professionals</c:v>
                </c:pt>
              </c:strCache>
            </c:strRef>
          </c:cat>
          <c:val>
            <c:numRef>
              <c:f>Sheet1!$C$2:$C$3</c:f>
              <c:numCache>
                <c:formatCode>General</c:formatCode>
                <c:ptCount val="2"/>
                <c:pt idx="0">
                  <c:v>3</c:v>
                </c:pt>
                <c:pt idx="1">
                  <c:v>60</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title>
          <c:tx>
            <c:rich>
              <a:bodyPr/>
              <a:lstStyle/>
              <a:p>
                <a:pPr>
                  <a:defRPr sz="1000"/>
                </a:pPr>
                <a:r>
                  <a:t>Socio-Economic Group</a:t>
                </a:r>
              </a:p>
            </c:rich>
          </c:tx>
          <c:layout/>
          <c:overlay val="0"/>
        </c:title>
        <c:majorTickMark val="out"/>
        <c:minorTickMark val="none"/>
        <c:tickLblPos val="nextTo"/>
        <c:crossAx val="-2113994440"/>
        <c:crosses val="autoZero"/>
        <c:auto val="1"/>
        <c:lblAlgn val="ctr"/>
        <c:lblOffset val="100"/>
        <c:noMultiLvlLbl val="0"/>
      </c:catAx>
      <c:valAx>
        <c:axId val="-2113994440"/>
        <c:scaling/>
        <c:delete val="0"/>
        <c:axPos val="l"/>
        <c:majorGridlines/>
        <c:title>
          <c:tx>
            <c:rich>
              <a:bodyPr/>
              <a:lstStyle/>
              <a:p>
                <a:pPr>
                  <a:defRPr sz="1000"/>
                </a:pPr>
                <a:r>
                  <a:t>Share (%)</a:t>
                </a:r>
              </a:p>
            </c:rich>
          </c:tx>
          <c:layout/>
          <c:overlay val="0"/>
        </c:title>
        <c:majorTickMark val="out"/>
        <c:minorTickMark val="none"/>
        <c:tickLblPos val="nextTo"/>
        <c:crossAx val="-2068027336"/>
        <c:crosses val="autoZero"/>
      </c:valAx>
    </c:plotArea>
    <c:legend>
      <c:legendPos val="b"/>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pPr>
            <a:r>
              <a:t>The Architecture of Inequality in Austria</a:t>
            </a:r>
          </a:p>
        </p:txBody>
      </p:sp>
      <p:sp>
        <p:nvSpPr>
          <p:cNvPr id="3" name="Subtitle 2"/>
          <p:cNvSpPr>
            <a:spLocks noGrp="1"/>
          </p:cNvSpPr>
          <p:nvPr>
            <p:ph type="subTitle" idx="1"/>
          </p:nvPr>
        </p:nvSpPr>
        <p:spPr/>
        <p:txBody>
          <a:bodyPr/>
          <a:lstStyle/>
          <a:p>
            <a:pPr>
              <a:defRPr sz="2000"/>
            </a:pPr>
            <a:r>
              <a:t>Structural Divides, Economic Realities, and Policy Solutions</a:t>
            </a:r>
          </a:p>
          <a:p>
            <a:pPr>
              <a:defRPr sz="2000"/>
            </a:pPr>
          </a:p>
          <a:p>
            <a:pPr>
              <a:defRPr sz="2000"/>
            </a:pPr>
            <a:r>
              <a:t>Course: Economic and Political Inequality</a:t>
            </a:r>
          </a:p>
          <a:p>
            <a:pPr>
              <a:defRPr sz="2000"/>
            </a:pPr>
            <a:r>
              <a:t>Context: Vienna, Austria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The 'Inheritance Economy' &amp; The Squeezed Middle</a:t>
            </a:r>
          </a:p>
        </p:txBody>
      </p:sp>
      <p:sp>
        <p:nvSpPr>
          <p:cNvPr id="3" name="TextBox 2"/>
          <p:cNvSpPr txBox="1"/>
          <p:nvPr/>
        </p:nvSpPr>
        <p:spPr>
          <a:xfrm>
            <a:off x="457200" y="1371600"/>
            <a:ext cx="4114800" cy="4572000"/>
          </a:xfrm>
          <a:prstGeom prst="rect">
            <a:avLst/>
          </a:prstGeom>
          <a:noFill/>
        </p:spPr>
        <p:txBody>
          <a:bodyPr wrap="square">
            <a:spAutoFit/>
          </a:bodyPr>
          <a:lstStyle/>
          <a:p/>
          <a:p>
            <a:pPr>
              <a:defRPr b="1">
                <a:solidFill>
                  <a:srgbClr val="DB2777"/>
                </a:solidFill>
              </a:defRPr>
            </a:pPr>
            <a:r>
              <a:t>Findings / Key Argument:</a:t>
            </a:r>
          </a:p>
          <a:p>
            <a:pPr>
              <a:defRPr sz="1400"/>
            </a:pPr>
            <a:r>
              <a:t>The traditional pathway to middle-class stability via labor is eroding. Maintaining class status now relies heavily on intergenerational wealth transfers. Based on the HFCS 2023, nearly 41% of Austrian households received an inheritance, and almost half of all total wealth in Austria is inherited. Migrants and non-inheritors are systematically excluded.</a:t>
            </a:r>
          </a:p>
          <a:p>
            <a:br/>
            <a:pPr>
              <a:defRPr b="1">
                <a:solidFill>
                  <a:srgbClr val="DB2777"/>
                </a:solidFill>
              </a:defRPr>
            </a:pPr>
            <a:r>
              <a:t>Policy Interventions:</a:t>
            </a:r>
          </a:p>
          <a:p>
            <a:pPr>
              <a:defRPr sz="1400"/>
            </a:pPr>
            <a:r>
              <a:t>• Introduce a progressive inheritance tax (exemptions up to €1M, affecting 0.2-1% of heirs, generating up to €1.8B for the state).</a:t>
            </a:r>
            <a:br/>
            <a:r>
              <a:t>• Banning tax-exempt transfer of corporate equity.</a:t>
            </a:r>
            <a:br/>
            <a:r>
              <a:t>• Fund a universal 'starting capital' endowment for all young adults.</a:t>
            </a:r>
          </a:p>
        </p:txBody>
      </p:sp>
      <p:graphicFrame>
        <p:nvGraphicFramePr>
          <p:cNvPr id="4" name="Chart 3"/>
          <p:cNvGraphicFramePr>
            <a:graphicFrameLocks noGrp="1"/>
          </p:cNvGraphicFramePr>
          <p:nvPr/>
        </p:nvGraphicFramePr>
        <p:xfrm>
          <a:off x="4572000" y="1828800"/>
          <a:ext cx="4114800" cy="4114800"/>
        </p:xfrm>
        <a:graphic>
          <a:graphicData uri="http://schemas.openxmlformats.org/drawingml/2006/chart">
            <c:chart xmlns:c="http://schemas.openxmlformats.org/drawingml/2006/chart" r:id="rId2"/>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The Wealth vs. Income Paradox</a:t>
            </a:r>
          </a:p>
        </p:txBody>
      </p:sp>
      <p:sp>
        <p:nvSpPr>
          <p:cNvPr id="3" name="TextBox 2"/>
          <p:cNvSpPr txBox="1"/>
          <p:nvPr/>
        </p:nvSpPr>
        <p:spPr>
          <a:xfrm>
            <a:off x="457200" y="1371600"/>
            <a:ext cx="4114800" cy="4572000"/>
          </a:xfrm>
          <a:prstGeom prst="rect">
            <a:avLst/>
          </a:prstGeom>
          <a:noFill/>
        </p:spPr>
        <p:txBody>
          <a:bodyPr wrap="square">
            <a:spAutoFit/>
          </a:bodyPr>
          <a:lstStyle/>
          <a:p/>
          <a:p>
            <a:pPr>
              <a:defRPr b="1">
                <a:solidFill>
                  <a:srgbClr val="10B981"/>
                </a:solidFill>
              </a:defRPr>
            </a:pPr>
            <a:r>
              <a:t>Findings / Key Argument:</a:t>
            </a:r>
          </a:p>
          <a:p>
            <a:pPr>
              <a:defRPr sz="1400"/>
            </a:pPr>
            <a:r>
              <a:t>Austria presents a distinct paradox: its robust welfare state and progressive income tax keep income inequality remarkably low (Gini 0.28). However, the absence of capital and wealth taxes makes its net wealth inequality among the highest in the developed world (Gini 0.76). According to the OeNB, the Top 10% command &gt;50% of the wealth.</a:t>
            </a:r>
          </a:p>
          <a:p>
            <a:br/>
            <a:pPr>
              <a:defRPr b="1">
                <a:solidFill>
                  <a:srgbClr val="10B981"/>
                </a:solidFill>
              </a:defRPr>
            </a:pPr>
            <a:r>
              <a:t>Policy Interventions:</a:t>
            </a:r>
          </a:p>
          <a:p>
            <a:pPr>
              <a:defRPr sz="1400"/>
            </a:pPr>
            <a:r>
              <a:t>• Implement a 0.5% - 1.5% net wealth tax on assets &gt; €1M.</a:t>
            </a:r>
            <a:br/>
            <a:r>
              <a:t>• Equalize capital gains tax with top marginal income tax brackets to halt disproportionate capital accumulation.</a:t>
            </a:r>
          </a:p>
        </p:txBody>
      </p:sp>
      <p:graphicFrame>
        <p:nvGraphicFramePr>
          <p:cNvPr id="4" name="Chart 3"/>
          <p:cNvGraphicFramePr>
            <a:graphicFrameLocks noGrp="1"/>
          </p:cNvGraphicFramePr>
          <p:nvPr/>
        </p:nvGraphicFramePr>
        <p:xfrm>
          <a:off x="4572000" y="1828800"/>
          <a:ext cx="4114800" cy="4114800"/>
        </p:xfrm>
        <a:graphic>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The Part-Time Trap &amp; Gender Pay Gap</a:t>
            </a:r>
          </a:p>
        </p:txBody>
      </p:sp>
      <p:sp>
        <p:nvSpPr>
          <p:cNvPr id="3" name="TextBox 2"/>
          <p:cNvSpPr txBox="1"/>
          <p:nvPr/>
        </p:nvSpPr>
        <p:spPr>
          <a:xfrm>
            <a:off x="457200" y="1371600"/>
            <a:ext cx="4114800" cy="4572000"/>
          </a:xfrm>
          <a:prstGeom prst="rect">
            <a:avLst/>
          </a:prstGeom>
          <a:noFill/>
        </p:spPr>
        <p:txBody>
          <a:bodyPr wrap="square">
            <a:spAutoFit/>
          </a:bodyPr>
          <a:lstStyle/>
          <a:p/>
          <a:p>
            <a:pPr>
              <a:defRPr b="1">
                <a:solidFill>
                  <a:srgbClr val="F59E0B"/>
                </a:solidFill>
              </a:defRPr>
            </a:pPr>
            <a:r>
              <a:t>Findings / Key Argument:</a:t>
            </a:r>
          </a:p>
          <a:p>
            <a:pPr>
              <a:defRPr sz="1400"/>
            </a:pPr>
            <a:r>
              <a:t>Austria maintains an 18% unadjusted gender pay gap (Statistics Austria, 2024). Deeply rooted structural norms force women into unpaid care work. Consequently, female part-time employment sits at an extreme 51.1% (vs 17% for men), cascading into a devastating 40.7% gender pension gap later in life.</a:t>
            </a:r>
          </a:p>
          <a:p>
            <a:br/>
            <a:pPr>
              <a:defRPr b="1">
                <a:solidFill>
                  <a:srgbClr val="F59E0B"/>
                </a:solidFill>
              </a:defRPr>
            </a:pPr>
            <a:r>
              <a:t>Policy Interventions:</a:t>
            </a:r>
          </a:p>
          <a:p>
            <a:pPr>
              <a:defRPr sz="1400"/>
            </a:pPr>
            <a:r>
              <a:t>• Fully fund and systematically expand right-to-childcare infrastructure from age one nationwide.</a:t>
            </a:r>
            <a:br/>
            <a:r>
              <a:t>• Introduce non-transferable parental leave quotas ('daddy months') to forcefully shift cultural caregiving norms.</a:t>
            </a:r>
          </a:p>
        </p:txBody>
      </p:sp>
      <p:graphicFrame>
        <p:nvGraphicFramePr>
          <p:cNvPr id="4" name="Chart 3"/>
          <p:cNvGraphicFramePr>
            <a:graphicFrameLocks noGrp="1"/>
          </p:cNvGraphicFramePr>
          <p:nvPr/>
        </p:nvGraphicFramePr>
        <p:xfrm>
          <a:off x="4572000" y="1828800"/>
          <a:ext cx="4114800" cy="365760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Early Tracking &amp; Educational Immobility</a:t>
            </a:r>
          </a:p>
        </p:txBody>
      </p:sp>
      <p:sp>
        <p:nvSpPr>
          <p:cNvPr id="3" name="TextBox 2"/>
          <p:cNvSpPr txBox="1"/>
          <p:nvPr/>
        </p:nvSpPr>
        <p:spPr>
          <a:xfrm>
            <a:off x="457200" y="1371600"/>
            <a:ext cx="4114800" cy="4572000"/>
          </a:xfrm>
          <a:prstGeom prst="rect">
            <a:avLst/>
          </a:prstGeom>
          <a:noFill/>
        </p:spPr>
        <p:txBody>
          <a:bodyPr wrap="square">
            <a:spAutoFit/>
          </a:bodyPr>
          <a:lstStyle/>
          <a:p/>
          <a:p>
            <a:pPr>
              <a:defRPr b="1">
                <a:solidFill>
                  <a:srgbClr val="8B5CF6"/>
                </a:solidFill>
              </a:defRPr>
            </a:pPr>
            <a:r>
              <a:t>Findings / Key Argument:</a:t>
            </a:r>
          </a:p>
          <a:p>
            <a:pPr>
              <a:defRPr sz="1400"/>
            </a:pPr>
            <a:r>
              <a:t>The Austrian education system separates children into different school tracks at the remarkably early age of 10. This practice strongly correlates educational outcomes with parental socioeconomic status, directly contradicting meritocratic ideals. A child of university graduates is roughly 4X more likely to obtain a degree than a child of parents with mandatory schooling.</a:t>
            </a:r>
          </a:p>
          <a:p>
            <a:br/>
            <a:pPr>
              <a:defRPr b="1">
                <a:solidFill>
                  <a:srgbClr val="8B5CF6"/>
                </a:solidFill>
              </a:defRPr>
            </a:pPr>
            <a:r>
              <a:t>Policy Interventions:</a:t>
            </a:r>
          </a:p>
          <a:p>
            <a:pPr>
              <a:defRPr sz="1400"/>
            </a:pPr>
            <a:r>
              <a:t>• Delay binding student tracking to age 14 or 15 via comprehensive schools (Gesamtschule).</a:t>
            </a:r>
            <a:br/>
            <a:r>
              <a:t>• Implement a strict social-index-based funding model to allocate maximum resources to disadvantaged districts.</a:t>
            </a:r>
          </a:p>
        </p:txBody>
      </p:sp>
      <p:graphicFrame>
        <p:nvGraphicFramePr>
          <p:cNvPr id="4" name="Chart 3"/>
          <p:cNvGraphicFramePr>
            <a:graphicFrameLocks noGrp="1"/>
          </p:cNvGraphicFramePr>
          <p:nvPr/>
        </p:nvGraphicFramePr>
        <p:xfrm>
          <a:off x="4572000" y="1828800"/>
          <a:ext cx="4114800" cy="4114800"/>
        </p:xfrm>
        <a:graphic>
          <a:graphicData uri="http://schemas.openxmlformats.org/drawingml/2006/chart">
            <c:chart xmlns:c="http://schemas.openxmlformats.org/drawingml/2006/chart" r:id="rId2"/>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Spatial Divides: Speculation vs. Urbanity</a:t>
            </a:r>
          </a:p>
        </p:txBody>
      </p:sp>
      <p:sp>
        <p:nvSpPr>
          <p:cNvPr id="3" name="TextBox 2"/>
          <p:cNvSpPr txBox="1"/>
          <p:nvPr/>
        </p:nvSpPr>
        <p:spPr>
          <a:xfrm>
            <a:off x="457200" y="1371600"/>
            <a:ext cx="4114800" cy="4572000"/>
          </a:xfrm>
          <a:prstGeom prst="rect">
            <a:avLst/>
          </a:prstGeom>
          <a:noFill/>
        </p:spPr>
        <p:txBody>
          <a:bodyPr wrap="square">
            <a:spAutoFit/>
          </a:bodyPr>
          <a:lstStyle/>
          <a:p/>
          <a:p>
            <a:pPr>
              <a:defRPr b="1">
                <a:solidFill>
                  <a:srgbClr val="3B82F6"/>
                </a:solidFill>
              </a:defRPr>
            </a:pPr>
            <a:r>
              <a:t>Findings / Key Argument:</a:t>
            </a:r>
          </a:p>
          <a:p>
            <a:pPr>
              <a:defRPr sz="1400"/>
            </a:pPr>
            <a:r>
              <a:t>Austria faces a severe geographic inequality challenge. Western Alpine regions (e.g., Vorarlberg, Salzburg) face extreme housing unaffordability due to tourism and speculation, diluting their high median incomes. Conversely, Vienna manages housing via public intervention and demonstrates economic resilience via a robust IT and tertiary sector (WIFO, 2024).</a:t>
            </a:r>
          </a:p>
          <a:p>
            <a:br/>
            <a:pPr>
              <a:defRPr b="1">
                <a:solidFill>
                  <a:srgbClr val="3B82F6"/>
                </a:solidFill>
              </a:defRPr>
            </a:pPr>
            <a:r>
              <a:t>Policy Interventions:</a:t>
            </a:r>
          </a:p>
          <a:p>
            <a:pPr>
              <a:defRPr sz="1400"/>
            </a:pPr>
            <a:r>
              <a:t>• Institute strict vacancy taxes to halt real estate speculation in Western provinces.</a:t>
            </a:r>
            <a:br/>
            <a:r>
              <a:t>• Export Vienna's successful 'Gemeindebau' social housing model federally.</a:t>
            </a:r>
            <a:br/>
            <a:r>
              <a:t>• Relocate federal agencies outside the capital to stimulate rural local economies.</a:t>
            </a:r>
          </a:p>
        </p:txBody>
      </p:sp>
      <p:graphicFrame>
        <p:nvGraphicFramePr>
          <p:cNvPr id="4" name="Chart 3"/>
          <p:cNvGraphicFramePr>
            <a:graphicFrameLocks noGrp="1"/>
          </p:cNvGraphicFramePr>
          <p:nvPr/>
        </p:nvGraphicFramePr>
        <p:xfrm>
          <a:off x="4572000" y="1828800"/>
          <a:ext cx="4114800" cy="411480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The Regressive Tax of Inflation</a:t>
            </a:r>
          </a:p>
        </p:txBody>
      </p:sp>
      <p:sp>
        <p:nvSpPr>
          <p:cNvPr id="3" name="TextBox 2"/>
          <p:cNvSpPr txBox="1"/>
          <p:nvPr/>
        </p:nvSpPr>
        <p:spPr>
          <a:xfrm>
            <a:off x="457200" y="1371600"/>
            <a:ext cx="4114800" cy="4572000"/>
          </a:xfrm>
          <a:prstGeom prst="rect">
            <a:avLst/>
          </a:prstGeom>
          <a:noFill/>
        </p:spPr>
        <p:txBody>
          <a:bodyPr wrap="square">
            <a:spAutoFit/>
          </a:bodyPr>
          <a:lstStyle/>
          <a:p/>
          <a:p>
            <a:pPr>
              <a:defRPr b="1">
                <a:solidFill>
                  <a:srgbClr val="EF4444"/>
                </a:solidFill>
              </a:defRPr>
            </a:pPr>
            <a:r>
              <a:t>Findings / Key Argument:</a:t>
            </a:r>
          </a:p>
          <a:p>
            <a:pPr>
              <a:defRPr sz="1400"/>
            </a:pPr>
            <a:r>
              <a:t>Inflationary shocks are fundamentally regressive. The bottom 20% of earners spend over 40% of their income on non-discretionary necessities (housing and food). Consequently, their 'effective inflation rate' during price shocks is drastically higher than the top 20%, who spend a fraction of their income on basic needs.</a:t>
            </a:r>
          </a:p>
          <a:p>
            <a:br/>
            <a:pPr>
              <a:defRPr b="1">
                <a:solidFill>
                  <a:srgbClr val="EF4444"/>
                </a:solidFill>
              </a:defRPr>
            </a:pPr>
            <a:r>
              <a:t>Policy Interventions:</a:t>
            </a:r>
          </a:p>
          <a:p>
            <a:pPr>
              <a:defRPr sz="1400"/>
            </a:pPr>
            <a:r>
              <a:t>• Abandon broad-brush subsidies for targeted cash transfers.</a:t>
            </a:r>
            <a:br/>
            <a:r>
              <a:t>• Institute strict, temporary price caps on basic utility tariffs.</a:t>
            </a:r>
            <a:br/>
            <a:r>
              <a:t>• Decouple rent indexation from raw consumer price indices (CPI), tying it to median wage growth.</a:t>
            </a:r>
          </a:p>
        </p:txBody>
      </p:sp>
      <p:graphicFrame>
        <p:nvGraphicFramePr>
          <p:cNvPr id="4" name="Chart 3"/>
          <p:cNvGraphicFramePr>
            <a:graphicFrameLocks noGrp="1"/>
          </p:cNvGraphicFramePr>
          <p:nvPr/>
        </p:nvGraphicFramePr>
        <p:xfrm>
          <a:off x="4572000" y="1828800"/>
          <a:ext cx="4114800" cy="41148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Political Inequality &amp; 'Diploma Democracy'</a:t>
            </a:r>
          </a:p>
        </p:txBody>
      </p:sp>
      <p:sp>
        <p:nvSpPr>
          <p:cNvPr id="3" name="TextBox 2"/>
          <p:cNvSpPr txBox="1"/>
          <p:nvPr/>
        </p:nvSpPr>
        <p:spPr>
          <a:xfrm>
            <a:off x="457200" y="1371600"/>
            <a:ext cx="4114800" cy="4572000"/>
          </a:xfrm>
          <a:prstGeom prst="rect">
            <a:avLst/>
          </a:prstGeom>
          <a:noFill/>
        </p:spPr>
        <p:txBody>
          <a:bodyPr wrap="square">
            <a:spAutoFit/>
          </a:bodyPr>
          <a:lstStyle/>
          <a:p/>
          <a:p>
            <a:pPr>
              <a:defRPr b="1">
                <a:solidFill>
                  <a:srgbClr val="3B82F6"/>
                </a:solidFill>
              </a:defRPr>
            </a:pPr>
            <a:r>
              <a:t>Findings / Key Argument:</a:t>
            </a:r>
          </a:p>
          <a:p>
            <a:pPr>
              <a:defRPr sz="1400"/>
            </a:pPr>
            <a:r>
              <a:t>Economic inequality translates relentlessly into political inequality. The Austrian National Council has evolved into a 'Diploma Democracy', heavily dominated by academics and affluent professionals. Marginalized and working-class groups abstain from voting due to alienation, ensuring their material needs are routinely ignored.</a:t>
            </a:r>
          </a:p>
          <a:p>
            <a:br/>
            <a:pPr>
              <a:defRPr b="1">
                <a:solidFill>
                  <a:srgbClr val="3B82F6"/>
                </a:solidFill>
              </a:defRPr>
            </a:pPr>
            <a:r>
              <a:t>Policy Interventions:</a:t>
            </a:r>
          </a:p>
          <a:p>
            <a:pPr>
              <a:defRPr sz="1400"/>
            </a:pPr>
            <a:r>
              <a:t>• Explore reintroducing compulsory voting to perfectly mirror the socio-economic diversity of the nation.</a:t>
            </a:r>
            <a:br/>
            <a:r>
              <a:t>• Execute robust civic education pipelines in vocational schools.</a:t>
            </a:r>
            <a:br/>
            <a:r>
              <a:t>• Implement binding internal diversity quotas within political party recruitment for working-class backgrounds.</a:t>
            </a:r>
          </a:p>
        </p:txBody>
      </p:sp>
      <p:graphicFrame>
        <p:nvGraphicFramePr>
          <p:cNvPr id="4" name="Chart 3"/>
          <p:cNvGraphicFramePr>
            <a:graphicFrameLocks noGrp="1"/>
          </p:cNvGraphicFramePr>
          <p:nvPr/>
        </p:nvGraphicFramePr>
        <p:xfrm>
          <a:off x="4572000" y="1828800"/>
          <a:ext cx="4114800" cy="4114800"/>
        </p:xfrm>
        <a:graphic>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a:pPr>
            <a:r>
              <a:t>Sources &amp; Academic References</a:t>
            </a:r>
          </a:p>
        </p:txBody>
      </p:sp>
      <p:sp>
        <p:nvSpPr>
          <p:cNvPr id="3" name="Content Placeholder 2"/>
          <p:cNvSpPr>
            <a:spLocks noGrp="1"/>
          </p:cNvSpPr>
          <p:nvPr>
            <p:ph idx="1"/>
          </p:nvPr>
        </p:nvSpPr>
        <p:spPr/>
        <p:txBody>
          <a:bodyPr wrap="square"/>
          <a:lstStyle/>
          <a:p/>
          <a:p>
            <a:pPr>
              <a:spcAft>
                <a:spcPts val="400"/>
              </a:spcAft>
              <a:defRPr sz="1300"/>
            </a:pPr>
            <a:r>
              <a:t>[1] Oesterreichische Nationalbank (OeNB) (2024). Eurosystem Household Finance and Consumption Survey (HFCS) 2023.</a:t>
            </a:r>
          </a:p>
          <a:p>
            <a:pPr>
              <a:spcAft>
                <a:spcPts val="400"/>
              </a:spcAft>
              <a:defRPr sz="1300"/>
            </a:pPr>
            <a:r>
              <a:t>[2] PubMed (2022). A Tale of Integration? The Migrant Wealth Gap in Austria.</a:t>
            </a:r>
          </a:p>
          <a:p>
            <a:pPr>
              <a:spcAft>
                <a:spcPts val="400"/>
              </a:spcAft>
              <a:defRPr sz="1300"/>
            </a:pPr>
            <a:r>
              <a:t>[3] OECD Economic Surveys: Austria 2024.</a:t>
            </a:r>
          </a:p>
          <a:p>
            <a:pPr>
              <a:spcAft>
                <a:spcPts val="400"/>
              </a:spcAft>
              <a:defRPr sz="1300"/>
            </a:pPr>
            <a:r>
              <a:t>[4] Institute for Fiscal Studies (2023). Persistent low inequality despite compositional shifts in Austria.</a:t>
            </a:r>
          </a:p>
          <a:p>
            <a:pPr>
              <a:spcAft>
                <a:spcPts val="400"/>
              </a:spcAft>
              <a:defRPr sz="1300"/>
            </a:pPr>
            <a:r>
              <a:t>[5] Promoting social mobility in Austria - OECD.</a:t>
            </a:r>
          </a:p>
          <a:p>
            <a:pPr>
              <a:spcAft>
                <a:spcPts val="400"/>
              </a:spcAft>
              <a:defRPr sz="1300"/>
            </a:pPr>
            <a:r>
              <a:t>[6] Education and Training Monitor 2025 – Austria.</a:t>
            </a:r>
          </a:p>
          <a:p>
            <a:pPr>
              <a:spcAft>
                <a:spcPts val="400"/>
              </a:spcAft>
              <a:defRPr sz="1300"/>
            </a:pPr>
            <a:r>
              <a:t>[7] WIFO (2024). Second Year of Recession in Austria: Economic Development and Regional Disparities.</a:t>
            </a:r>
          </a:p>
          <a:p>
            <a:pPr>
              <a:spcAft>
                <a:spcPts val="400"/>
              </a:spcAft>
              <a:defRPr sz="1300"/>
            </a:pPr>
            <a:r>
              <a:t>[8] Statistics Austria. Economic output of most federal provinces almost unchanged in 2024.</a:t>
            </a:r>
          </a:p>
          <a:p>
            <a:pPr>
              <a:spcAft>
                <a:spcPts val="400"/>
              </a:spcAft>
              <a:defRPr sz="1300"/>
            </a:pPr>
            <a:r>
              <a:t>[9] Kontrast. Das sind die neuen Abgeordneten im Nationalrat.</a:t>
            </a:r>
          </a:p>
          <a:p>
            <a:pPr>
              <a:spcAft>
                <a:spcPts val="400"/>
              </a:spcAft>
              <a:defRPr sz="1300"/>
            </a:pPr>
            <a:r>
              <a:t>[10] ResearchGate (2023). Right-wing populism against diploma democracy: parliamentary elites in Austria.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